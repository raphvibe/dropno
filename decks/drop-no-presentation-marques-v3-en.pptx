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BRAND PRESENTATION  ·  2026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00000"/>
            <a:ext cx="8229600" cy="1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00000"/>
            <a:ext cx="70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AFAF7"/>
                </a:solidFill>
                <a:latin typeface="Calibri"/>
              </a:rPr>
              <a:t>A real-world value test, for the pieces the market has not seen yet.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46304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300">
                <a:solidFill>
                  <a:srgbClr val="9B9B9B"/>
                </a:solidFill>
                <a:latin typeface="Calibri"/>
              </a:rPr>
              <a:t>Brand-direct  ·  sealed-bid  ·  one reveal, Thursday 6pm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REAL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200" b="0" i="1">
                <a:solidFill>
                  <a:srgbClr val="0A0A0A"/>
                </a:solidFill>
                <a:latin typeface="Georgia"/>
              </a:rPr>
              <a:t>You launch an unseen piece.</a:t>
            </a:r>
          </a:p>
          <a:p>
            <a:pPr algn="l">
              <a:lnSpc>
                <a:spcPct val="104000"/>
              </a:lnSpc>
            </a:pPr>
            <a:r>
              <a:rPr sz="3200" b="0" i="1">
                <a:solidFill>
                  <a:srgbClr val="A8853F"/>
                </a:solidFill>
                <a:latin typeface="Georgia"/>
              </a:rPr>
              <a:t>At what price do you sell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4,500 €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Gone in 3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You leave 30 to 50 % on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6,000 €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Gone in 6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Diluted cash flow, lost narrative.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80360"/>
            <a:ext cx="265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At 7,500 €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00000"/>
            <a:ext cx="265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Nothing sells.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40000"/>
            <a:ext cx="26232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The drop exists, with no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F3F39"/>
                </a:solidFill>
                <a:latin typeface="Georgia"/>
              </a:rPr>
              <a:t>No calculation gives you that number. It lives in the heads of collectors.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WHAT DROP NO.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You no longer set the price.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The market reveals it to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YOU SET A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minimum below which you will not sell.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THE MARKET BIDS 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Sealed offers, editable, over five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THE PRICE IS REVEALED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Thursday 6pm. The Nth offer becomes the unit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1977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A8853F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00000"/>
            <a:ext cx="1947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 spc="200">
                <a:solidFill>
                  <a:srgbClr val="0A0A0A"/>
                </a:solidFill>
                <a:latin typeface="Calibri"/>
              </a:rPr>
              <a:t>YOU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20000"/>
            <a:ext cx="19274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Clearing price, depth of demand, buyer profile.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The brand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What you gain, step by step — the mechanism, the controlled risk,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From first call to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Four weeks to prepare, five days to sell, two weeks to settle.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8" y="2780000"/>
            <a:ext cx="7053943" cy="952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- 30</a:t>
            </a:r>
          </a:p>
        </p:txBody>
      </p:sp>
      <p:sp>
        <p:nvSpPr>
          <p:cNvPr id="8" name="Oval 7"/>
          <p:cNvSpPr/>
          <p:nvPr/>
        </p:nvSpPr>
        <p:spPr>
          <a:xfrm>
            <a:off x="979028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00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First call,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857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- 21</a:t>
            </a:r>
          </a:p>
        </p:txBody>
      </p:sp>
      <p:sp>
        <p:nvSpPr>
          <p:cNvPr id="12" name="Oval 11"/>
          <p:cNvSpPr/>
          <p:nvPr/>
        </p:nvSpPr>
        <p:spPr>
          <a:xfrm>
            <a:off x="2154685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857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857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Onboarding, company KYC.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514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- 14</a:t>
            </a:r>
          </a:p>
        </p:txBody>
      </p:sp>
      <p:sp>
        <p:nvSpPr>
          <p:cNvPr id="16" name="Oval 15"/>
          <p:cNvSpPr/>
          <p:nvPr/>
        </p:nvSpPr>
        <p:spPr>
          <a:xfrm>
            <a:off x="3330342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8514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14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Piece, floor, editions.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4171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- 7</a:t>
            </a:r>
          </a:p>
        </p:txBody>
      </p:sp>
      <p:sp>
        <p:nvSpPr>
          <p:cNvPr id="20" name="Oval 19"/>
          <p:cNvSpPr/>
          <p:nvPr/>
        </p:nvSpPr>
        <p:spPr>
          <a:xfrm>
            <a:off x="4505999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171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2171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Photos, story, packaging.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9828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0</a:t>
            </a:r>
          </a:p>
        </p:txBody>
      </p:sp>
      <p:sp>
        <p:nvSpPr>
          <p:cNvPr id="24" name="Oval 23"/>
          <p:cNvSpPr/>
          <p:nvPr/>
        </p:nvSpPr>
        <p:spPr>
          <a:xfrm>
            <a:off x="5681656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828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Opening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7828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Thursday 9am, public drop.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5485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+ 5</a:t>
            </a:r>
          </a:p>
        </p:txBody>
      </p:sp>
      <p:sp>
        <p:nvSpPr>
          <p:cNvPr id="28" name="Oval 27"/>
          <p:cNvSpPr/>
          <p:nvPr/>
        </p:nvSpPr>
        <p:spPr>
          <a:xfrm>
            <a:off x="6857313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5485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Reveal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3485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Thursday 6pm, clearing 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1142" y="216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Georgia"/>
              </a:rPr>
              <a:t>D + 19</a:t>
            </a:r>
          </a:p>
        </p:txBody>
      </p:sp>
      <p:sp>
        <p:nvSpPr>
          <p:cNvPr id="32" name="Oval 31"/>
          <p:cNvSpPr/>
          <p:nvPr/>
        </p:nvSpPr>
        <p:spPr>
          <a:xfrm>
            <a:off x="8032970" y="2718762"/>
            <a:ext cx="132000" cy="132000"/>
          </a:xfrm>
          <a:prstGeom prst="ellipse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1142" y="3040000"/>
            <a:ext cx="1175657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9142" y="3350000"/>
            <a:ext cx="1139657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After 14-day withdrawal.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Concierge delivery between D + 5 and D + 10. You ship to Drop No., we coordinate the final handover.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TEST WITHOUT THE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Three safeguards, to test without breaking.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floor price is yours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Below your threshold, the drop is cancelled. No sale under the floor, no damage to your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Cancelled drop, zero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No fee if nothing sells. Drop No. only wins if you win. Our interest is aligned with yours.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You keep control of the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Opening date, duration, communication. One reveal per drop, never alongside your own boutique.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WHAT YOU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Three data points no study will give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0000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0000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true market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30000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What the N most motivated collectors are ready to pay today. Not an average, not a survey. A figure.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6666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96666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6666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depth of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6666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number of offers, their distribution, the gap between the first and the Nth. A direct signal for your next references.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332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63332"/>
            <a:ext cx="73152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A8853F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3332"/>
            <a:ext cx="740664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0A0A0A"/>
                </a:solidFill>
                <a:latin typeface="Calibri"/>
              </a:rPr>
              <a:t>The buyer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63332"/>
            <a:ext cx="7329600" cy="50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How many collectors are KYC-verified and bid. Countries, segments, loyalty — at no acquisition cost to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PRIVILEGE № 001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0000"/>
            <a:ext cx="8229600" cy="1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0" i="1" spc="-50">
                <a:solidFill>
                  <a:srgbClr val="FAFAF7"/>
                </a:solidFill>
                <a:latin typeface="Georgia"/>
              </a:rPr>
              <a:t>Number 001, reserved for the top bidder.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60000"/>
            <a:ext cx="7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B9B9B"/>
                </a:solidFill>
                <a:latin typeface="Calibri"/>
              </a:rPr>
              <a:t>After the reveal, the highest bidder receives a private offer: to reserve serial number 001 of the edition. A premium, twenty-four hours, an exclusivity that creates desire without a public bidding war.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300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Private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Made only to the highest bidder, after clearing. Discreet, never announced beforehand.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24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A short window to decide. No cascade: if declined, 001 follows the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0000"/>
            <a:ext cx="264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C9A96E"/>
                </a:solidFill>
                <a:latin typeface="Georgia"/>
              </a:rPr>
              <a:t>The top pays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100000"/>
            <a:ext cx="26132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B9B9B"/>
                </a:solidFill>
                <a:latin typeface="Calibri"/>
              </a:rPr>
              <a:t>A premium based on the gap to the Nth offer. One more reason to aim high.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LOGISTICS &amp; EDITIONS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Every piece numbered, every delivery insured.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THE 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Numbering 1 /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Engraved on the rotor and the case back, visible through the sapphire.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House-signed certificate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Certificate of authenticity issued and signed by your workshop, delivered with the 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Original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Your usual box, printed history booklet, reinforced transport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0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THE 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20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33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Insured DHL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8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For pieces between 3,000 and 10,000 €. 48-72h, full insurance, real-time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Hand-carried concierge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1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Above 10,000 €. Malca-Amit or Brinks, handover against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9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alibri"/>
              </a:rPr>
              <a:t>5 to 10-day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40000"/>
            <a:ext cx="379476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From the reveal. You ship to Drop No., we coordinate the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1">
                <a:solidFill>
                  <a:srgbClr val="0A0A0A"/>
                </a:solidFill>
                <a:latin typeface="Georgia"/>
              </a:rPr>
              <a:t>12 %  +  5 €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2000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F3F39"/>
                </a:solidFill>
                <a:latin typeface="Georgia"/>
              </a:rPr>
              <a:t>per piece sold, up to 10,000 €.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Above 10,000 €, bespoke pricing (concierge logistics included).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4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60">
                <a:solidFill>
                  <a:srgbClr val="6B6B6B"/>
                </a:solidFill>
                <a:latin typeface="Calibri"/>
              </a:rPr>
              <a:t>INCLUDED  ·  NO ADDITIONAL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Buyer KYC · Stripe Identity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Payment · pre-auth, capture, refunds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Premium logistics · DHL Express or Malca-Amit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360" y="3910000"/>
            <a:ext cx="38174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Customer support · Crisp chat + email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39"/>
                </a:solidFill>
                <a:latin typeface="Calibri"/>
              </a:rPr>
              <a:t>Communication · newsletter, PR,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SECTION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1" spc="-100">
                <a:solidFill>
                  <a:srgbClr val="FAFAF7"/>
                </a:solidFill>
                <a:latin typeface="Georgia"/>
              </a:rPr>
              <a:t>The collector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20000"/>
            <a:ext cx="7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B9B9B"/>
                </a:solidFill>
                <a:latin typeface="Calibri"/>
              </a:rPr>
              <a:t>The experience that attracts the buyer you are targeting — and keeps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COLLECTOR, BEFORE DROP NO.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000" b="0" i="1">
                <a:solidFill>
                  <a:srgbClr val="0A0A0A"/>
                </a:solidFill>
                <a:latin typeface="Georgia"/>
              </a:rPr>
              <a:t>I want a beautiful piece.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A8853F"/>
                </a:solidFill>
                <a:latin typeface="Georgia"/>
              </a:rPr>
              <a:t>Where do I even start?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0000"/>
            <a:ext cx="22000" cy="1076000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2440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Who do I trust — a forum, a dealer, the grey market?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2812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How do I buy well, without paying for the fear of missing 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3184000"/>
            <a:ext cx="8029600" cy="3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3F3F39"/>
                </a:solidFill>
                <a:latin typeface="Georgia"/>
              </a:rPr>
              <a:t>And once I decide: a refusal, a waitlist, an availability I do not get to choose.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76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06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A8853F"/>
                </a:solidFill>
                <a:latin typeface="Georgia"/>
              </a:rPr>
              <a:t>Drop No. resets the rules: a price discovered together, one clear window for everyone, a real chance to land the 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An experience built for the collector.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SEALED, EDITABLE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hidden offer, adjustable until one hour before the reveal. No bidding war, no FOMO.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4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VERIFIED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04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04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Stripe Identity from the first offer. Real buyers, a verified card, zero fraud.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600" y="176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PUBLIC COUNTDOWN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3600" y="201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3600" y="212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dated reveal, Thursday 6pm. The same horizon for everyone, shown on the drop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ALERTS &amp; REMINDERS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Alert bell and emails: opening, 24h before, last hour. Nobody misses the window.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04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ACCOUNT &amp;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4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04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dashboard: active offers, status, payment, delivery — all in one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3600" y="3070000"/>
            <a:ext cx="2503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60">
                <a:solidFill>
                  <a:srgbClr val="A8853F"/>
                </a:solidFill>
                <a:latin typeface="Calibri"/>
              </a:rPr>
              <a:t>PRIVILEGE № 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3600" y="3320000"/>
            <a:ext cx="36000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3600" y="3430000"/>
            <a:ext cx="25032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The highest bidder can reserve number 001 of the edition. A reason to aim high.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F3F39"/>
                </a:solidFill>
                <a:latin typeface="Georgia"/>
              </a:rPr>
              <a:t>14-day withdrawal · payment pre-authorized, captured only if the offer wins.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COLLECTOR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A0A0A"/>
                </a:solidFill>
                <a:latin typeface="Georgia"/>
              </a:rPr>
              <a:t>From click to delivered piece.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The collector you reach: KYC-verified, card-verified, watch-collector profile.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80000"/>
            <a:ext cx="72009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9165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Sign-up</a:t>
            </a:r>
          </a:p>
        </p:txBody>
      </p:sp>
      <p:sp>
        <p:nvSpPr>
          <p:cNvPr id="11" name="Oval 10"/>
          <p:cNvSpPr/>
          <p:nvPr/>
        </p:nvSpPr>
        <p:spPr>
          <a:xfrm>
            <a:off x="19452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Account +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Follow</a:t>
            </a:r>
          </a:p>
        </p:txBody>
      </p:sp>
      <p:sp>
        <p:nvSpPr>
          <p:cNvPr id="14" name="Oval 13"/>
          <p:cNvSpPr/>
          <p:nvPr/>
        </p:nvSpPr>
        <p:spPr>
          <a:xfrm>
            <a:off x="29739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Drop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0</a:t>
            </a:r>
          </a:p>
        </p:txBody>
      </p:sp>
      <p:sp>
        <p:nvSpPr>
          <p:cNvPr id="17" name="Oval 16"/>
          <p:cNvSpPr/>
          <p:nvPr/>
        </p:nvSpPr>
        <p:spPr>
          <a:xfrm>
            <a:off x="40026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First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5 days</a:t>
            </a:r>
          </a:p>
        </p:txBody>
      </p:sp>
      <p:sp>
        <p:nvSpPr>
          <p:cNvPr id="20" name="Oval 19"/>
          <p:cNvSpPr/>
          <p:nvPr/>
        </p:nvSpPr>
        <p:spPr>
          <a:xfrm>
            <a:off x="50313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7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+ 5</a:t>
            </a:r>
          </a:p>
        </p:txBody>
      </p:sp>
      <p:sp>
        <p:nvSpPr>
          <p:cNvPr id="23" name="Oval 22"/>
          <p:cNvSpPr/>
          <p:nvPr/>
        </p:nvSpPr>
        <p:spPr>
          <a:xfrm>
            <a:off x="60600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7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Reveal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+ 5 → 10</a:t>
            </a:r>
          </a:p>
        </p:txBody>
      </p:sp>
      <p:sp>
        <p:nvSpPr>
          <p:cNvPr id="26" name="Oval 25"/>
          <p:cNvSpPr/>
          <p:nvPr/>
        </p:nvSpPr>
        <p:spPr>
          <a:xfrm>
            <a:off x="70887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216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Georgia"/>
              </a:rPr>
              <a:t>D + 14</a:t>
            </a:r>
          </a:p>
        </p:txBody>
      </p:sp>
      <p:sp>
        <p:nvSpPr>
          <p:cNvPr id="29" name="Oval 28"/>
          <p:cNvSpPr/>
          <p:nvPr/>
        </p:nvSpPr>
        <p:spPr>
          <a:xfrm>
            <a:off x="8117450" y="2729762"/>
            <a:ext cx="110000" cy="110000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8100" y="3040000"/>
            <a:ext cx="10287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Withdrawal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3000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0000"/>
            <a:ext cx="82296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8853F"/>
                </a:solidFill>
                <a:latin typeface="Georgia"/>
              </a:rPr>
              <a:t>No bidding war: a decision made calmly, adjustable until the very last hour.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 · 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The drop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60000"/>
            <a:ext cx="393192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What the collector sees, from day one to the last hour before the reveal.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COUNTDOWN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 dated, public reveal, the same for everyone. No extension, no overbidding.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SEALED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Each offer stays hidden until the reveal, editable until one hour before closing.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0000"/>
            <a:ext cx="393192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A8853F"/>
                </a:solidFill>
                <a:latin typeface="Calibri"/>
              </a:rPr>
              <a:t>YOUR TERMS,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0000"/>
            <a:ext cx="3931920" cy="4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Floor, editions, insured delivery, 14-day withdrawal. The frame is set.</a:t>
            </a:r>
          </a:p>
        </p:txBody>
      </p:sp>
      <p:pic>
        <p:nvPicPr>
          <p:cNvPr id="12" name="Picture 11" descr="crop-dro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3470000" cy="347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THE PRODUCT  ·  AFTER THE REVEAL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0A0A0A"/>
                </a:solidFill>
                <a:latin typeface="Georgia"/>
              </a:rPr>
              <a:t>The result, public and 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At the reveal, the unit price appears on the drop page. Each archived drop becomes proof for the next.</a:t>
            </a:r>
          </a:p>
        </p:txBody>
      </p:sp>
      <p:pic>
        <p:nvPicPr>
          <p:cNvPr id="6" name="Picture 5" descr="crop-revea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97" y="2040000"/>
            <a:ext cx="6093405" cy="2520000"/>
          </a:xfrm>
          <a:prstGeom prst="rect">
            <a:avLst/>
          </a:prstGeom>
          <a:ln w="9525">
            <a:solidFill>
              <a:srgbClr val="D6D2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DROP № 001  ·  MAISON LÉVRIER  ·  REFERENCE TYPE 01</a:t>
            </a:r>
          </a:p>
        </p:txBody>
      </p:sp>
      <p:sp>
        <p:nvSpPr>
          <p:cNvPr id="3" name="Oval 2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B9B9B"/>
                </a:solidFill>
                <a:latin typeface="Georgia"/>
              </a:rPr>
              <a:t>You expected 4,500 €.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60000"/>
            <a:ext cx="8229600" cy="2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1" spc="-200">
                <a:solidFill>
                  <a:srgbClr val="FAFAF7"/>
                </a:solidFill>
                <a:latin typeface="Georgia"/>
              </a:rPr>
              <a:t>6,240 €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2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AFAF7"/>
                </a:solidFill>
                <a:latin typeface="Calibri"/>
              </a:rPr>
              <a:t>What the market said, in five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A96E"/>
                </a:solidFill>
                <a:latin typeface="Georgia"/>
              </a:rPr>
              <a:t>+ 1,740 € per piece  ·  + 13,920 € on the edition  ·  + 38.7 %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6B6B6B"/>
                </a:solidFill>
                <a:latin typeface="Calibri"/>
              </a:rPr>
              <a:t>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0A0A0A"/>
                </a:solidFill>
                <a:latin typeface="Georgia"/>
              </a:rPr>
              <a:t>For the pieces the market has not seen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6B6B"/>
                </a:solidFill>
                <a:latin typeface="Calibri"/>
              </a:rPr>
              <a:t>Emerging references, limited editions, first releases. When the market does not yet know what to make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A8853F"/>
                </a:solidFill>
                <a:latin typeface="Calibri"/>
              </a:rPr>
              <a:t>IDEAL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0000"/>
            <a:ext cx="3794760" cy="9525"/>
          </a:xfrm>
          <a:prstGeom prst="rect">
            <a:avLst/>
          </a:prstGeom>
          <a:solidFill>
            <a:srgbClr val="A88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New independent references, never sold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Prototypes ready to industrialize, to validate in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Anniversary editions, capsules, collaborations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Productions under 100 pieces, unit price ≥ 3,000 €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60000"/>
            <a:ext cx="379476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20">
                <a:solidFill>
                  <a:srgbClr val="0A0A0A"/>
                </a:solidFill>
                <a:latin typeface="Calibri"/>
              </a:rPr>
              <a:t>OUT OF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460000"/>
            <a:ext cx="3794760" cy="9525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90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Recurring catalogue at an already-set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74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Pieces under 3,000 € (delivery economics too tight)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58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Secondary resale market (brand-direct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742000"/>
            <a:ext cx="379476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3F39"/>
                </a:solidFill>
                <a:latin typeface="Calibri"/>
              </a:rPr>
              <a:t>Non-watch categories (jewellery and art in 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0A0A0A"/>
                </a:solidFill>
                <a:latin typeface="Georgia"/>
              </a:rPr>
              <a:t>Drop 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Georgia"/>
              </a:rPr>
              <a:t>№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480">
                <a:solidFill>
                  <a:srgbClr val="9B9B9B"/>
                </a:solidFill>
                <a:latin typeface="Calibri"/>
              </a:rPr>
              <a:t>NEXT DROPS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 i="1">
                <a:solidFill>
                  <a:srgbClr val="FAFAF7"/>
                </a:solidFill>
                <a:latin typeface="Georgia"/>
              </a:rPr>
              <a:t>Slots open for Q3 and Q4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000"/>
            <a:ext cx="8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9B9B"/>
                </a:solidFill>
                <a:latin typeface="Calibri"/>
              </a:rPr>
              <a:t>One drop a week. Thirty a year. Selected on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9525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60000"/>
            <a:ext cx="82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B9B9B"/>
                </a:solidFill>
                <a:latin typeface="Calibri"/>
              </a:rPr>
              <a:t>TO DISCUSS A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20000"/>
            <a:ext cx="82296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C9A96E"/>
                </a:solidFill>
                <a:latin typeface="Georgia"/>
              </a:rPr>
              <a:t>raph@dropno.eu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AF7"/>
                </a:solidFill>
                <a:latin typeface="Calibri"/>
              </a:rPr>
              <a:t>30-minute demo call. Onboarding in two weeks. First test drop within 30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0000"/>
            <a:ext cx="2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7"/>
                </a:solidFill>
                <a:latin typeface="Georgia"/>
              </a:rPr>
              <a:t>Drop 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0" y="4690000"/>
            <a:ext cx="1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9B9B9B"/>
                </a:solidFill>
                <a:latin typeface="Georgia"/>
              </a:rPr>
              <a:t>№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
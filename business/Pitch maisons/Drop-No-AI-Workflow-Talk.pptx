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(20 min): Title 0:30 · Premise 1:00 · Pipeline 2:00 · Idea 1:30 · PRD 2:00 · Parallel tracks 2:00 · Outside-in 2:00 · Toolbox 2:30 · Feedback-&gt;code 2:00 · Project today 1:00 · Live demo 3:00 · What changed 1:00 · Takeaways 0:45 · Close/Q rest.</a:t>
            </a:r>
          </a:p>
          <a:p/>
          <a:p>
            <a:r>
              <a:t>Opening line: 'I want to show you, honestly, how I build with AI on Drop No. — not a magic-button demo, but the real loop I run every 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 behind-the-scenes of the making, for a design/strategy audience. One sentence on what Drop No. is, then pivot fully to process. The three beats on the right are the whole product mechanic in 6 words —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the talk — spend time here. Walk left to right. Stress two things: (1) the PRD is the hinge between thinking and making; (2) prototype and design system run in parallel, not in sequence. Everything after this slide zooms into one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design audience: frame it as sketching. You wouldn't commit to your first sketch; same here. The model is a divergence engine. Mistral cross-check = a second opinion that doesn't just agree. The decision is human — that's the recurring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Designers care about handoff friction — the PRD kills it. Key line: 'decisions are made once and written down, so we argue about the right things.' Mention it's living: the partial-sale change rippled doc -&gt; DB -&gt; UI -&gt; tests in one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slide for this audience. Outside-in = design-led: the experience drives the build, not the database. The prototype is throwaway; the design system is durable. Show the swatches — these are the actual tokens we ship. 'Champagne like gold leaf' = rationed accent, a real brand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punchline of the first half: three inputs converge into a real build. Stress 'we slice deliverables together' — the breaking-down is collaborative and explicit. And it's a real stack with real data rules (RLS), not 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plain-language for designers. Analogies: Skills = a specialist you can summon. Agents = interns you brief and they go work in parallel. MCPs = the tool plugs into your real systems (it can read the actual database, not a copy). Schedulers = cron, but in natural language. One concrete example each,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lands with a design team: the gap between 'I think X' and 'X is live' collapses to minutes. All four are real changes from this project. Emphasize the last one — a product-mechanic change that touched database, server logic, UI and tests, coherently, in one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— this is the bridge to the live demo. Don't read the cards; say 'rather than screenshots, let's look at the real thing' and switch to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browser. Full screen-by-screen path is in the demo script (Drop-No-AI-Demo-Script.md). Keep it ~3 min: don't explore, follow the path. If the dev server isn't up, fall back to the recorded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 and honest. Land the last point hard: AI removes the plumbing, not the judgment. Taste, strategy and brand decisions are still the designer's job — arguably more so, because you can act on them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crisp principles. These are the slides people photograph. Read each header, one line of colour,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them to bring a real problem — offer to run the loop together. Leave contact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502920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300">
                <a:solidFill>
                  <a:srgbClr val="B89058"/>
                </a:solidFill>
                <a:latin typeface="Calibri"/>
              </a:rPr>
              <a:t>DROP NO. · A FIELD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860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0" i="1">
                <a:solidFill>
                  <a:srgbClr val="F7F4EE"/>
                </a:solidFill>
                <a:latin typeface="Cambria"/>
              </a:rPr>
              <a:t>Building a real product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0" i="1">
                <a:solidFill>
                  <a:srgbClr val="F7F4EE"/>
                </a:solidFill>
                <a:latin typeface="Cambria"/>
              </a:rPr>
              <a:t>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FC7B6"/>
                </a:solidFill>
                <a:latin typeface="Calibri"/>
              </a:rPr>
              <a:t>From a one-line idea to a working MVP — a designer’s account of the workflow, the tools, and what actually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7F6B"/>
                </a:solidFill>
                <a:latin typeface="Calibri"/>
              </a:rPr>
              <a:t>Raphaël Hombroeck   ·   Drop No.   ·   20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PREMISE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0" i="1">
                <a:solidFill>
                  <a:srgbClr val="211B12"/>
                </a:solidFill>
                <a:latin typeface="Cambria"/>
              </a:rPr>
              <a:t>This is about the </a:t>
            </a:r>
            <a:r>
              <a:rPr sz="3300" b="0" i="1">
                <a:solidFill>
                  <a:srgbClr val="8C6A35"/>
                </a:solidFill>
                <a:latin typeface="Cambria"/>
              </a:rPr>
              <a:t>process</a:t>
            </a:r>
            <a:r>
              <a:rPr sz="3300" b="0" i="1">
                <a:solidFill>
                  <a:srgbClr val="211B12"/>
                </a:solidFill>
                <a:latin typeface="Cambria"/>
              </a:rPr>
              <a:t>, not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A5042"/>
                </a:solidFill>
                <a:latin typeface="Calibri"/>
              </a:rPr>
              <a:t>Drop No. is a house of sealed-bid drops for premium watches: one piece, a hidden bid, a single price set at the reveal, every Thursday at 6pm.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5A50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A5042"/>
                </a:solidFill>
                <a:latin typeface="Calibri"/>
              </a:rPr>
              <a:t>But today the subject is how it gets made: how an idea becomes a PRD, a design system, and a real, functional MVP — with AI tools doing a lot of the heavy lifting, and me keeping the taste and the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468880"/>
            <a:ext cx="384048" cy="384048"/>
          </a:xfrm>
          <a:prstGeom prst="rect">
            <a:avLst/>
          </a:prstGeom>
          <a:noFill/>
          <a:ln w="17780">
            <a:solidFill>
              <a:srgbClr val="B89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4871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C6A35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4140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11B12"/>
                </a:solidFill>
                <a:latin typeface="Calibri"/>
              </a:rPr>
              <a:t>Sealed bid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7614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7F6B"/>
                </a:solidFill>
                <a:latin typeface="Calibri"/>
              </a:rPr>
              <a:t>a hidden offer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520440"/>
            <a:ext cx="384048" cy="384048"/>
          </a:xfrm>
          <a:prstGeom prst="rect">
            <a:avLst/>
          </a:prstGeom>
          <a:noFill/>
          <a:ln w="17780">
            <a:solidFill>
              <a:srgbClr val="B89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3538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C6A35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6557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11B12"/>
                </a:solidFill>
                <a:latin typeface="Calibri"/>
              </a:rPr>
              <a:t>Reveal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8130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7F6B"/>
                </a:solidFill>
                <a:latin typeface="Calibri"/>
              </a:rPr>
              <a:t>Thursday 18h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572000"/>
            <a:ext cx="384048" cy="384048"/>
          </a:xfrm>
          <a:prstGeom prst="rect">
            <a:avLst/>
          </a:prstGeom>
          <a:noFill/>
          <a:ln w="17780">
            <a:solidFill>
              <a:srgbClr val="B89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45902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C6A35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51713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11B12"/>
                </a:solidFill>
                <a:latin typeface="Calibri"/>
              </a:rPr>
              <a:t>Single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864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7F6B"/>
                </a:solidFill>
                <a:latin typeface="Calibri"/>
              </a:rPr>
              <a:t>all winners pay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How an idea becomes an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7F4EE"/>
                </a:solidFill>
                <a:latin typeface="Cambria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FC7B6"/>
                </a:solidFill>
                <a:latin typeface="Calibri"/>
              </a:rPr>
              <a:t>a one-liner,
a hunch</a:t>
            </a:r>
          </a:p>
        </p:txBody>
      </p:sp>
      <p:sp>
        <p:nvSpPr>
          <p:cNvPr id="11" name="Chevron 10"/>
          <p:cNvSpPr/>
          <p:nvPr/>
        </p:nvSpPr>
        <p:spPr>
          <a:xfrm>
            <a:off x="1936141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5205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4933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4933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11B12"/>
                </a:solidFill>
                <a:latin typeface="Cambria"/>
              </a:rP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4933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7F6B"/>
                </a:solidFill>
                <a:latin typeface="Calibri"/>
              </a:rPr>
              <a:t>Claude Code
+ Mistral</a:t>
            </a:r>
          </a:p>
        </p:txBody>
      </p:sp>
      <p:sp>
        <p:nvSpPr>
          <p:cNvPr id="16" name="Chevron 15"/>
          <p:cNvSpPr/>
          <p:nvPr/>
        </p:nvSpPr>
        <p:spPr>
          <a:xfrm>
            <a:off x="3562706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1770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1498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1498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11B12"/>
                </a:solidFill>
                <a:latin typeface="Cambria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1498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7F6B"/>
                </a:solidFill>
                <a:latin typeface="Calibri"/>
              </a:rPr>
              <a:t>commit to
an approach</a:t>
            </a:r>
          </a:p>
        </p:txBody>
      </p:sp>
      <p:sp>
        <p:nvSpPr>
          <p:cNvPr id="21" name="Chevron 20"/>
          <p:cNvSpPr/>
          <p:nvPr/>
        </p:nvSpPr>
        <p:spPr>
          <a:xfrm>
            <a:off x="5189271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28335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8063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8063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11B12"/>
                </a:solidFill>
                <a:latin typeface="Cambria"/>
              </a:rPr>
              <a:t>PRD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8063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7F6B"/>
                </a:solidFill>
                <a:latin typeface="Calibri"/>
              </a:rPr>
              <a:t>the source
of truth</a:t>
            </a:r>
          </a:p>
        </p:txBody>
      </p:sp>
      <p:sp>
        <p:nvSpPr>
          <p:cNvPr id="26" name="Chevron 25"/>
          <p:cNvSpPr/>
          <p:nvPr/>
        </p:nvSpPr>
        <p:spPr>
          <a:xfrm>
            <a:off x="6815837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54900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4628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4628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11B12"/>
                </a:solidFill>
                <a:latin typeface="Cambria"/>
              </a:rPr>
              <a:t>Two tracks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4628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7F6B"/>
                </a:solidFill>
                <a:latin typeface="Calibri"/>
              </a:rPr>
              <a:t>Lovable +
design system</a:t>
            </a:r>
          </a:p>
        </p:txBody>
      </p:sp>
      <p:sp>
        <p:nvSpPr>
          <p:cNvPr id="31" name="Chevron 30"/>
          <p:cNvSpPr/>
          <p:nvPr/>
        </p:nvSpPr>
        <p:spPr>
          <a:xfrm>
            <a:off x="8442402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1466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1194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1194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11B12"/>
                </a:solidFill>
                <a:latin typeface="Cambria"/>
              </a:rPr>
              <a:t>Outside-in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1194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A7F6B"/>
                </a:solidFill>
                <a:latin typeface="Calibri"/>
              </a:rPr>
              <a:t>slice the
deliverables</a:t>
            </a:r>
          </a:p>
        </p:txBody>
      </p:sp>
      <p:sp>
        <p:nvSpPr>
          <p:cNvPr id="36" name="Chevron 35"/>
          <p:cNvSpPr/>
          <p:nvPr/>
        </p:nvSpPr>
        <p:spPr>
          <a:xfrm>
            <a:off x="10068967" y="3401568"/>
            <a:ext cx="186586" cy="274320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08031" y="2834640"/>
            <a:ext cx="1335024" cy="1417320"/>
          </a:xfrm>
          <a:prstGeom prst="roundRect">
            <a:avLst>
              <a:gd name="adj" fmla="val 6000"/>
            </a:avLst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17759" y="2999232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100">
                <a:solidFill>
                  <a:srgbClr val="B89058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7759" y="3310128"/>
            <a:ext cx="1115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7F4EE"/>
                </a:solidFill>
                <a:latin typeface="Cambria"/>
              </a:rPr>
              <a:t>Real MVP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7759" y="3749039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CFC7B6"/>
                </a:solidFill>
                <a:latin typeface="Calibri"/>
              </a:rPr>
              <a:t>Next.js · Supabase
· Stripe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5042"/>
                </a:solidFill>
                <a:latin typeface="Calibri"/>
              </a:rPr>
              <a:t>The two middle moves run in parallel: a clickable prototype (outside-in) and a design system, both feeding the same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№ 01 ·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Think out loud, then diverge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211B12"/>
                </a:solidFill>
                <a:latin typeface="Cambria"/>
              </a:rPr>
              <a:t>Elaborate with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50592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I describe the hunch in plain language and we expand it: edge cases, mechanics, naming, risks. It behaves like a very fast, very well-read collaborator.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211B12"/>
                </a:solidFill>
                <a:latin typeface="Cambria"/>
              </a:rPr>
              <a:t>Bounce between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76472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I cross-check with Mistral and others. Different models surface different objections — it pressure-tests the idea instead of confirming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211B12"/>
                </a:solidFill>
                <a:latin typeface="Cambria"/>
              </a:rPr>
              <a:t>Commit to an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102352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Once the trade-offs are clear, I decide. The tools widen the options; the choice stays mine.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№ 02 · PRD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One document everyone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1B12"/>
                </a:solidFill>
                <a:latin typeface="Calibri"/>
              </a:rPr>
              <a:t>The PRD is the single source of truth.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211B1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5042"/>
                </a:solidFill>
                <a:latin typeface="Calibri"/>
              </a:rPr>
              <a:t>It holds the locked decisions so we stop re-litigating them, and so design, copy and code all point at the same thing.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211B1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5042"/>
                </a:solidFill>
                <a:latin typeface="Calibri"/>
              </a:rPr>
              <a:t>It is living: when we changed ‘all-or-nothing’ to ‘partial sale by default’, the PRD, the schema and the UI moved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240280"/>
            <a:ext cx="5303520" cy="3246120"/>
          </a:xfrm>
          <a:prstGeom prst="roundRect">
            <a:avLst>
              <a:gd name="adj" fmla="val 6000"/>
            </a:avLst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LOCKED DECISIONS (excerpt)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26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Sealed-bid, uniform price — Nth-bid clearing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3756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Reveal every Thursday, 18h CET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49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Floor price ≥ 3 000 €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Seller fee 12% + 5€ · buyer 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7200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Partial sale by default · all-or-nothing optional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983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9834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E"/>
                </a:solidFill>
                <a:latin typeface="Calibri"/>
              </a:rPr>
              <a:t>14-day withdrawal, full refund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№ 03 · 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Two tracks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50">
                <a:solidFill>
                  <a:srgbClr val="8C6A35"/>
                </a:solidFill>
                <a:latin typeface="Calibri"/>
              </a:rPr>
              <a:t>PROTOTYPE — LOVABLE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211B12"/>
                </a:solidFill>
                <a:latin typeface="Cambria"/>
              </a:rPr>
              <a:t>Outside-in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A fast, clickable prototype. We start from what the buyer sees and feels, before a line of production code. It is disposable on purpose — its job is to decide, and to capture screens we design against.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24028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50">
                <a:solidFill>
                  <a:srgbClr val="8C6A35"/>
                </a:solidFill>
                <a:latin typeface="Calibri"/>
              </a:rPr>
              <a:t>DESIGN SYSTEM —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211B12"/>
                </a:solidFill>
                <a:latin typeface="Cambria"/>
              </a:rPr>
              <a:t>The brand, in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520440"/>
            <a:ext cx="1078992" cy="640080"/>
          </a:xfrm>
          <a:prstGeom prst="roundRect">
            <a:avLst>
              <a:gd name="adj" fmla="val 6000"/>
            </a:avLst>
          </a:prstGeom>
          <a:solidFill>
            <a:srgbClr val="211B12"/>
          </a:solidFill>
          <a:ln w="6350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206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F6B"/>
                </a:solidFill>
                <a:latin typeface="Calibri"/>
              </a:rPr>
              <a:t>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3520440"/>
            <a:ext cx="1078992" cy="640080"/>
          </a:xfrm>
          <a:prstGeom prst="roundRect">
            <a:avLst>
              <a:gd name="adj" fmla="val 6000"/>
            </a:avLst>
          </a:prstGeom>
          <a:solidFill>
            <a:srgbClr val="F7F4EE"/>
          </a:solidFill>
          <a:ln w="6350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4206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F6B"/>
                </a:solidFill>
                <a:latin typeface="Calibri"/>
              </a:rPr>
              <a:t>Off-white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2248" y="3520440"/>
            <a:ext cx="1078992" cy="6400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6350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4206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F6B"/>
                </a:solidFill>
                <a:latin typeface="Calibri"/>
              </a:rPr>
              <a:t>Sand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85832" y="3520440"/>
            <a:ext cx="1078992" cy="640080"/>
          </a:xfrm>
          <a:prstGeom prst="roundRect">
            <a:avLst>
              <a:gd name="adj" fmla="val 6000"/>
            </a:avLst>
          </a:prstGeom>
          <a:solidFill>
            <a:srgbClr val="B89058"/>
          </a:solidFill>
          <a:ln w="6350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4206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7F6B"/>
                </a:solidFill>
                <a:latin typeface="Calibri"/>
              </a:rPr>
              <a:t>Champagne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Fraunces italic display, Inter body, hairlines over shadows, champagne used like gold leaf. Light-only, by doctrine.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№ 04 ·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From screens to a working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11B12"/>
                </a:solidFill>
                <a:latin typeface="Cambria"/>
              </a:rPr>
              <a:t>PRD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A7F6B"/>
                </a:solidFill>
                <a:latin typeface="Calibri"/>
              </a:rPr>
              <a:t>what &amp; 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28600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11B12"/>
                </a:solidFill>
                <a:latin typeface="Cambria"/>
              </a:rPr>
              <a:t>Design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A7F6B"/>
                </a:solidFill>
                <a:latin typeface="Calibri"/>
              </a:rPr>
              <a:t>how it looks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28600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11B12"/>
                </a:solidFill>
                <a:latin typeface="Cambria"/>
              </a:rPr>
              <a:t>Lovable captures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A7F6B"/>
                </a:solidFill>
                <a:latin typeface="Calibri"/>
              </a:rPr>
              <a:t>what it feels like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063240" y="3611880"/>
            <a:ext cx="457200" cy="502920"/>
          </a:xfrm>
          <a:prstGeom prst="downArrow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639312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A5042"/>
                </a:solidFill>
                <a:latin typeface="Calibri"/>
              </a:rPr>
              <a:t>we slice deliverables together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F7F4EE"/>
                </a:solidFill>
                <a:latin typeface="Cambria"/>
              </a:rPr>
              <a:t>A real, functional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FC7B6"/>
                </a:solidFill>
                <a:latin typeface="Calibri"/>
              </a:rPr>
              <a:t>Next.js + Supabase (Postgres, RLS, edge functions) + Stripe. Auth, KYC, sealed bids, the reveal, payouts, a back-office — shipped and committed, not a mockup.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THE TOOLBOX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Four things worth knowing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709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Packaged expertise on tap.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93008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C6A35"/>
                </a:solidFill>
                <a:latin typeface="Calibri"/>
              </a:rPr>
              <a:t>e.g. an ‘impeccable’ design audit; deck &amp; PDF builders.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2286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14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74320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709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Delegate a whole multi-step job — several at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3493008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C6A35"/>
                </a:solidFill>
                <a:latin typeface="Calibri"/>
              </a:rPr>
              <a:t>e.g. explore the codebase in parallel and report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MCPs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4709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Live connections to real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30368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C6A35"/>
                </a:solidFill>
                <a:latin typeface="Calibri"/>
              </a:rPr>
              <a:t>e.g. the Supabase database, Google Drive, the browser.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4023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251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48056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Schedulers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4892040"/>
            <a:ext cx="4709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Set-and-forget recurring tasks.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5230368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C6A35"/>
                </a:solidFill>
                <a:latin typeface="Calibri"/>
              </a:rPr>
              <a:t>e.g. a morning brief, a weekly digest, a daily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THE LOOP,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1">
                <a:solidFill>
                  <a:srgbClr val="211B12"/>
                </a:solidFill>
                <a:latin typeface="Cambria"/>
              </a:rPr>
              <a:t>Design feedback becomes shipped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50">
                <a:solidFill>
                  <a:srgbClr val="8A7F6B"/>
                </a:solidFill>
                <a:latin typeface="Calibri"/>
              </a:rPr>
              <a:t>A NOTE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331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50">
                <a:solidFill>
                  <a:srgbClr val="8A7F6B"/>
                </a:solidFill>
                <a:latin typeface="Calibri"/>
              </a:rPr>
              <a:t>…BECOMES, SAME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211B12"/>
                </a:solidFill>
                <a:latin typeface="Cambria"/>
              </a:rPr>
              <a:t>“The closed drop feels too admin.”</a:t>
            </a:r>
          </a:p>
        </p:txBody>
      </p:sp>
      <p:sp>
        <p:nvSpPr>
          <p:cNvPr id="10" name="Chevron 9"/>
          <p:cNvSpPr/>
          <p:nvPr/>
        </p:nvSpPr>
        <p:spPr>
          <a:xfrm>
            <a:off x="5650992" y="2889504"/>
            <a:ext cx="274320" cy="237744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743200"/>
            <a:ext cx="5394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Result panel: unit price up front + a warm nudge to the calendar.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56432"/>
            <a:ext cx="10881360" cy="7620"/>
          </a:xfrm>
          <a:prstGeom prst="rect">
            <a:avLst/>
          </a:prstGeom>
          <a:solidFill>
            <a:srgbClr val="DD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211B12"/>
                </a:solidFill>
                <a:latin typeface="Cambria"/>
              </a:rPr>
              <a:t>“‘Calendar’ is clearer than ‘Drops’.”</a:t>
            </a:r>
          </a:p>
        </p:txBody>
      </p:sp>
      <p:sp>
        <p:nvSpPr>
          <p:cNvPr id="14" name="Chevron 13"/>
          <p:cNvSpPr/>
          <p:nvPr/>
        </p:nvSpPr>
        <p:spPr>
          <a:xfrm>
            <a:off x="5650992" y="3657600"/>
            <a:ext cx="274320" cy="237744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511296"/>
            <a:ext cx="5394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Nav relabelled, FR/EN, route untouched.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24528"/>
            <a:ext cx="10881360" cy="7620"/>
          </a:xfrm>
          <a:prstGeom prst="rect">
            <a:avLst/>
          </a:prstGeom>
          <a:solidFill>
            <a:srgbClr val="DD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211B12"/>
                </a:solidFill>
                <a:latin typeface="Cambria"/>
              </a:rPr>
              <a:t>“Hide empty ‘Live’; lead with ‘Upcoming’.”</a:t>
            </a:r>
          </a:p>
        </p:txBody>
      </p:sp>
      <p:sp>
        <p:nvSpPr>
          <p:cNvPr id="18" name="Chevron 17"/>
          <p:cNvSpPr/>
          <p:nvPr/>
        </p:nvSpPr>
        <p:spPr>
          <a:xfrm>
            <a:off x="5650992" y="4425696"/>
            <a:ext cx="274320" cy="237744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279392"/>
            <a:ext cx="5394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Calendar reorders itself when nothing is 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0881360" cy="7620"/>
          </a:xfrm>
          <a:prstGeom prst="rect">
            <a:avLst/>
          </a:prstGeom>
          <a:solidFill>
            <a:srgbClr val="DD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47488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211B12"/>
                </a:solidFill>
                <a:latin typeface="Cambria"/>
              </a:rPr>
              <a:t>“Partial sale, not all-or-nothing.”</a:t>
            </a:r>
          </a:p>
        </p:txBody>
      </p:sp>
      <p:sp>
        <p:nvSpPr>
          <p:cNvPr id="22" name="Chevron 21"/>
          <p:cNvSpPr/>
          <p:nvPr/>
        </p:nvSpPr>
        <p:spPr>
          <a:xfrm>
            <a:off x="5650992" y="5193792"/>
            <a:ext cx="274320" cy="237744"/>
          </a:xfrm>
          <a:prstGeom prst="chevron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5047488"/>
            <a:ext cx="5394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DB migration + close logic + form toggle +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THE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What it looks like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7091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Manifesto hero when no drop is live — idea &amp; ritual, not a sign-up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228600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56032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Drop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3063240"/>
            <a:ext cx="47091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Sealed-bid panel, countdown, and a result panel at the reveal.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47091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Live · Upcoming · Past, the weekly rhythm.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402336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29768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211B12"/>
                </a:solidFill>
                <a:latin typeface="Cambria"/>
              </a:rPr>
              <a:t>Maisons deck &amp;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800600"/>
            <a:ext cx="47091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A brand-charte leave-behind for partner houses.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FC7B6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 i="1">
                <a:solidFill>
                  <a:srgbClr val="F7F4EE"/>
                </a:solidFill>
                <a:latin typeface="Cambria"/>
              </a:rPr>
              <a:t>Let’s look at the real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100">
                <a:solidFill>
                  <a:srgbClr val="B8905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7F4EE"/>
                </a:solidFill>
                <a:latin typeface="Calibri"/>
              </a:rPr>
              <a:t>Home — empty-state manifesto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100">
                <a:solidFill>
                  <a:srgbClr val="B8905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67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7F4EE"/>
                </a:solidFill>
                <a:latin typeface="Calibri"/>
              </a:rPr>
              <a:t>Calendar — Upcoming leads when nothing is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100">
                <a:solidFill>
                  <a:srgbClr val="B8905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3425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7F4EE"/>
                </a:solidFill>
                <a:latin typeface="Calibri"/>
              </a:rPr>
              <a:t>A drop — sealed bid, then the result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011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100">
                <a:solidFill>
                  <a:srgbClr val="B89058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01183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7F4EE"/>
                </a:solidFill>
                <a:latin typeface="Calibri"/>
              </a:rPr>
              <a:t>Back-office — create a drop, the all-or-nothing toggle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WHAT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What it changed for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Iteration is hours, not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An idea, a critique, a fix — same day, often same session.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7296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Decisions become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57015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Design calls turn into PRD lines, tokens, and committed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14215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14215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One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9826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Less handoff friction; design, copy and code stay aligned.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9058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5546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More time on taste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39512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042"/>
                </a:solidFill>
                <a:latin typeface="Calibri"/>
              </a:rPr>
              <a:t>The tools handle plumbing; judgment, strategy and brand stay human.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042"/>
                </a:solidFill>
                <a:latin typeface="Cambria"/>
              </a:rPr>
              <a:t>Drop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84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200">
                <a:solidFill>
                  <a:srgbClr val="B89058"/>
                </a:solidFill>
                <a:latin typeface="Calibri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0" i="1">
                <a:solidFill>
                  <a:srgbClr val="211B12"/>
                </a:solidFill>
                <a:latin typeface="Cambria"/>
              </a:rPr>
              <a:t>If you try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Start outside-in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7091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Prototype the experience first; let it drive the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2286000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25420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2788920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Keep a living PRD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3200400"/>
            <a:ext cx="47091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Decide once, write it down, let it ripple everywhere.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59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Let tools specialize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47091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Skills, agents, MCPs — the right tool per job, in parallel.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3977639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FBF9F4"/>
          </a:solidFill>
          <a:ln w="9525">
            <a:solidFill>
              <a:srgbClr val="DD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42336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00">
                <a:solidFill>
                  <a:srgbClr val="B8905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4480559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11B12"/>
                </a:solidFill>
                <a:latin typeface="Cambria"/>
              </a:rPr>
              <a:t>Stay in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4892040"/>
            <a:ext cx="47091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042"/>
                </a:solidFill>
                <a:latin typeface="Calibri"/>
              </a:rPr>
              <a:t>Keep a human on taste and the irreversible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502920" cy="20320"/>
          </a:xfrm>
          <a:prstGeom prst="rect">
            <a:avLst/>
          </a:prstGeom>
          <a:solidFill>
            <a:srgbClr val="B89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42316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0" i="1">
                <a:solidFill>
                  <a:srgbClr val="F7F4EE"/>
                </a:solidFill>
                <a:latin typeface="Cambria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FC7B6"/>
                </a:solidFill>
                <a:latin typeface="Calibri"/>
              </a:rPr>
              <a:t>Questions, or want to try the loop on something of yours?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7F6B"/>
                </a:solidFill>
                <a:latin typeface="Calibri"/>
              </a:rPr>
              <a:t>Raphaël Hombroeck   ·   raph@dropno.eu   ·   dropno.eu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457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FC7B6"/>
                </a:solidFill>
                <a:latin typeface="Cambria"/>
              </a:rPr>
              <a:t>Drop 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
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PRÉSENTATION MARQUES  ·  2026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00000"/>
            <a:ext cx="8229600" cy="1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1" spc="-200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00000"/>
            <a:ext cx="70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AFAF7"/>
                </a:solidFill>
                <a:latin typeface="Calibri"/>
              </a:rPr>
              <a:t>Le test de valeur grandeur réelle, pour les pièces qu’on n’a pas encore vues.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06240"/>
            <a:ext cx="146304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6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300">
                <a:solidFill>
                  <a:srgbClr val="9B9B9B"/>
                </a:solidFill>
                <a:latin typeface="Calibri"/>
              </a:rPr>
              <a:t>Brand-direct  ·  sealed-bid  ·  une révélation, jeudi 18h CET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 VRAI PROBLÈME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200" b="0" i="1">
                <a:solidFill>
                  <a:srgbClr val="0A0A0A"/>
                </a:solidFill>
                <a:latin typeface="Georgia"/>
              </a:rPr>
              <a:t>Vous lancez une pièce inédite.</a:t>
            </a:r>
          </a:p>
          <a:p>
            <a:pPr algn="l">
              <a:lnSpc>
                <a:spcPct val="104000"/>
              </a:lnSpc>
            </a:pPr>
            <a:r>
              <a:rPr sz="3200" b="0" i="1">
                <a:solidFill>
                  <a:srgbClr val="A8853F"/>
                </a:solidFill>
                <a:latin typeface="Georgia"/>
              </a:rPr>
              <a:t>À quel prix la vendre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060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À 4 500 €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Tout part en 3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Vous laissez 30 à 50 % sur la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À 6 000 €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Tout part en 6 mois.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Trésorerie diluée, narrative perdue.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À 7 500 €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Rien ne part.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Le drop existe, sans demande.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F3F39"/>
                </a:solidFill>
                <a:latin typeface="Georgia"/>
              </a:rPr>
              <a:t>Aucun calcul ne donne ce nombre. Il vit dans la tête des collectionneurs.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CE QUE DROP NO. RÉSOUT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000" b="0" i="1">
                <a:solidFill>
                  <a:srgbClr val="0A0A0A"/>
                </a:solidFill>
                <a:latin typeface="Georgia"/>
              </a:rPr>
              <a:t>Vous ne décidez plus le prix.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A8853F"/>
                </a:solidFill>
                <a:latin typeface="Georgia"/>
              </a:rPr>
              <a:t>Le marché vous le révèle.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060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VOUS FIXEZ UN PLANCHER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Le minimum sous lequel vous ne vendez pas.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LE MARCHÉ MISE EN AVEUGLE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Offres scellées, modifiables, sur cinq jours.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LE PRIX SE RÉVÈLE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Jeudi 18h. La N-ième offre devient le prix unitaire.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VOUS APPRENEZ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Clearing price, profondeur de demande, profil acheteur.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SECTION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5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1" spc="-100">
                <a:solidFill>
                  <a:srgbClr val="FAFAF7"/>
                </a:solidFill>
                <a:latin typeface="Georgia"/>
              </a:rPr>
              <a:t>Côté maison.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20000"/>
            <a:ext cx="72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B9B9B"/>
                </a:solidFill>
                <a:latin typeface="Calibri"/>
              </a:rPr>
              <a:t>Ce que vous gagnez, étape par étape — la mécanique, le risque maîtrisé, la donnée.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LA JOURNEY PRODUIT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Du premier appel au paiement.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Quatre semaines pour préparer, cinq jours pour vendre, deux semaines pour encaisser.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5028" y="2780000"/>
            <a:ext cx="7053943" cy="9525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- 30</a:t>
            </a:r>
          </a:p>
        </p:txBody>
      </p:sp>
      <p:sp>
        <p:nvSpPr>
          <p:cNvPr id="8" name="Oval 7"/>
          <p:cNvSpPr/>
          <p:nvPr/>
        </p:nvSpPr>
        <p:spPr>
          <a:xfrm>
            <a:off x="979028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200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Premier appel, exploration.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2857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- 21</a:t>
            </a:r>
          </a:p>
        </p:txBody>
      </p:sp>
      <p:sp>
        <p:nvSpPr>
          <p:cNvPr id="12" name="Oval 11"/>
          <p:cNvSpPr/>
          <p:nvPr/>
        </p:nvSpPr>
        <p:spPr>
          <a:xfrm>
            <a:off x="2154685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2857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Contrat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0857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Onboarding, KYC entreprise.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514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- 14</a:t>
            </a:r>
          </a:p>
        </p:txBody>
      </p:sp>
      <p:sp>
        <p:nvSpPr>
          <p:cNvPr id="16" name="Oval 15"/>
          <p:cNvSpPr/>
          <p:nvPr/>
        </p:nvSpPr>
        <p:spPr>
          <a:xfrm>
            <a:off x="3330342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8514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Sélection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514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Pièce, plancher, exemplaires.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4171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- 7</a:t>
            </a:r>
          </a:p>
        </p:txBody>
      </p:sp>
      <p:sp>
        <p:nvSpPr>
          <p:cNvPr id="20" name="Oval 19"/>
          <p:cNvSpPr/>
          <p:nvPr/>
        </p:nvSpPr>
        <p:spPr>
          <a:xfrm>
            <a:off x="4505999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4171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Préparation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2171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Photos, story, packaging.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9828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0</a:t>
            </a:r>
          </a:p>
        </p:txBody>
      </p:sp>
      <p:sp>
        <p:nvSpPr>
          <p:cNvPr id="24" name="Oval 23"/>
          <p:cNvSpPr/>
          <p:nvPr/>
        </p:nvSpPr>
        <p:spPr>
          <a:xfrm>
            <a:off x="5681656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9828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Ouverture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7828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Jeudi 9h, drop public.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5485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+ 5</a:t>
            </a:r>
          </a:p>
        </p:txBody>
      </p:sp>
      <p:sp>
        <p:nvSpPr>
          <p:cNvPr id="28" name="Oval 27"/>
          <p:cNvSpPr/>
          <p:nvPr/>
        </p:nvSpPr>
        <p:spPr>
          <a:xfrm>
            <a:off x="6857313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5485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Révélation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3485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Jeudi 18h, clearing price.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1142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+ 19</a:t>
            </a:r>
          </a:p>
        </p:txBody>
      </p:sp>
      <p:sp>
        <p:nvSpPr>
          <p:cNvPr id="32" name="Oval 31"/>
          <p:cNvSpPr/>
          <p:nvPr/>
        </p:nvSpPr>
        <p:spPr>
          <a:xfrm>
            <a:off x="8032970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1142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Paiement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9142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Après rétractation 14j.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30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50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853F"/>
                </a:solidFill>
                <a:latin typeface="Georgia"/>
              </a:rPr>
              <a:t>Livraison concierge entre J + 5 et J + 10. Vous expédiez directement à l’acheteur vérifié ; nous fournissons l’étiquette assurée et coordonnons la remise. La pièce ne passe jamais par Drop No.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 TEST SANS LE RISQUE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Trois garde-fous, pour tester sans casser.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30000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40000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Le prix plancher est le vôtre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30000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Sous votre seuil, le drop est annulé. Aucune vente sous le plancher, aucune perte d’image.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26666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96666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06666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Drop annulé, zéro frais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6666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Pas de fee si rien ne part. Drop No. ne gagne que si vous gagnez. Notre intérêt est aligné sur le vôtre.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93332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63332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73332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Vous gardez la maîtrise du calendrier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63332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Date d’ouverture, durée, communication. Une révélation par drop, jamais en parallèle avec votre boutique.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CE QUE VOUS APPRENEZ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Trois données qu’aucune étude ne vous donnera.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30000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40000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Le prix de marché vrai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30000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Ce que les N collectionneurs les plus motivés sont prêts à payer aujourd’hui. Pas une moyenne, pas un sondage. Un chiffre.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26666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96666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06666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La profondeur de demande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6666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Le nombre d’offres, leur distribution, l’écart entre la première et la N-ième. Un indicateur direct pour les prochaines références.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93332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63332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73332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Le profil acheteur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63332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Combien de collectionneurs ont KYC validé et bidé. Pays, segments, fidélité — sans coût d’acquisition pour vous.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PRIVILÈGE № 001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30000"/>
            <a:ext cx="8229600" cy="1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 i="1" spc="-50">
                <a:solidFill>
                  <a:srgbClr val="FAFAF7"/>
                </a:solidFill>
                <a:latin typeface="Georgia"/>
              </a:rPr>
              <a:t>Le numéro 001, réservé au plus offrant.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60000"/>
            <a:ext cx="74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B9B9B"/>
                </a:solidFill>
                <a:latin typeface="Calibri"/>
              </a:rPr>
              <a:t>Après la révélation, le plus haut bidder reçoit une offre privée : réserver le numéro de série 001 de l’édition. Un supplément, vingt-quatre heures, une exclusivité qui crée le désir sans guerre publique.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3000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Offre privée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Proposée au seul bidder le plus haut, après le clearing. Discrète, jamais annoncée avant.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24 heures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Une fenêtre courte pour décider. Pas de cascade : si refus, le 001 suit le rang.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Le sommet paie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Un supplément calculé sur l’écart à la N-ième offre. Une raison de plus de viser haut.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LOGISTIQUE &amp; EXEMPLAIRES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0A0A0A"/>
                </a:solidFill>
                <a:latin typeface="Georgia"/>
              </a:rPr>
              <a:t>Chaque pièce numérotée, chaque livraison assurée.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0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A8853F"/>
                </a:solidFill>
                <a:latin typeface="Calibri"/>
              </a:rPr>
              <a:t>LA PIÈCE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00000"/>
            <a:ext cx="379476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Numérotation 1 /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Gravée sur la masse oscillante et le fond, visible à travers le saphir.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Certificat signé maison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Document d’authenticité émis et signé par votre atelier, livré avec la pièce.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Packaging d’origine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Votre coffret habituel, dossier d’histoire imprimé, étui de transport renforcé.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0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0A0A0A"/>
                </a:solidFill>
                <a:latin typeface="Calibri"/>
              </a:rPr>
              <a:t>LA LIVRAISON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200000"/>
            <a:ext cx="379476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33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DHL Express assuré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8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Pour les pièces entre 3 000 et 10 000 €. 48-72h, assurance pleine, tracking temps réel.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0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Concierge main propre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31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Au-dessus de 10 000 €. Malca-Amit ou Brinks, remise contre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9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Fenêtre 5 à 10 jours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04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À compter de la révélation. Vous expédiez directement à l’acheteur vérifié ; la pièce ne transite jamais par nos locaux.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TARIFICATION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1">
                <a:solidFill>
                  <a:srgbClr val="0A0A0A"/>
                </a:solidFill>
                <a:latin typeface="Georgia"/>
              </a:rPr>
              <a:t>12 %  +  5 €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20000"/>
            <a:ext cx="82296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F3F39"/>
                </a:solidFill>
                <a:latin typeface="Georgia"/>
              </a:rPr>
              <a:t>par pièce vendue, jusqu’à 10 000 €.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Au-delà de 10 000 €, tarif sur mesure (logistique concierge incluse).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204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40000"/>
            <a:ext cx="822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60">
                <a:solidFill>
                  <a:srgbClr val="6B6B6B"/>
                </a:solidFill>
                <a:latin typeface="Calibri"/>
              </a:rPr>
              <a:t>INCLUS  ·  AUCUN FRAIS ADDITIONNEL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10000"/>
            <a:ext cx="381744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KYC acheteurs · Stripe Identity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Paiement · pré-auth, capture, remboursements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Logistique premium · DHL Express ou Malca-Amit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360" y="3910000"/>
            <a:ext cx="381744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Support client · Crisp chat + email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Communication · newsletter, PR, réseaux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SECTION II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5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1" spc="-100">
                <a:solidFill>
                  <a:srgbClr val="FAFAF7"/>
                </a:solidFill>
                <a:latin typeface="Georgia"/>
              </a:rPr>
              <a:t>Côté collectionneur.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20000"/>
            <a:ext cx="72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B9B9B"/>
                </a:solidFill>
                <a:latin typeface="Calibri"/>
              </a:rPr>
              <a:t>L’expérience qui attire l’acheteur que vous visez — et le retient.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 COLLECTIONNEUR, AVANT DROP NO.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000" b="0" i="1">
                <a:solidFill>
                  <a:srgbClr val="0A0A0A"/>
                </a:solidFill>
                <a:latin typeface="Georgia"/>
              </a:rPr>
              <a:t>Je veux une belle pièce.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A8853F"/>
                </a:solidFill>
                <a:latin typeface="Georgia"/>
              </a:rPr>
              <a:t>Par où commencer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20000"/>
            <a:ext cx="22000" cy="1076000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7200" y="2440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Qui croire — un forum, un vendeur, le marché gris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2812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Comment bien acheter, sans payer la peur de rater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00" y="3184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Et quand je me décide : un refus, une liste d’attente, une disponibilité que je ne choisis pas.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76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06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A8853F"/>
                </a:solidFill>
                <a:latin typeface="Georgia"/>
              </a:rPr>
              <a:t>Drop No. remet les règles à plat : un prix qu’on découvre ensemble, une fenêtre claire pour tous, une chance réelle d’obtenir la pièce.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LES FONCTIONNALITÉS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Une expérience pensée pour le collectionneur.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OFFRE SCELLÉE, MODIFIABLE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Une offre cachée, ajustable jusqu’à une heure avant la révélation. Pas de surenchère, pas de FOMO.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04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IDENTITÉ VÉRIFIÉE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04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04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Stripe Identity dès la première offre. Des acheteurs réels, une carte vérifiée, zéro fraude.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36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COMPTE À REBOURS PUBLIC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36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36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Révélation datée, jeudi 18h. Le même horizon pour tous, affiché sur la page du drop.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ALERTES &amp; RAPPELS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Cloche d’alerte et e-mails : ouverture, J-24h, dernière heure. Personne ne rate la fenêtre.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04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COMPTE &amp; SUIVI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04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04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Un tableau de bord : offres en cours, statut, paiement, livraison, en un seul endroit.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36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PRIVILÈGE № 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36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36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Le plus haut bidder peut réserver le numéro 001 de l’édition. Une raison de viser haut.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0000"/>
            <a:ext cx="82296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F3F39"/>
                </a:solidFill>
                <a:latin typeface="Georgia"/>
              </a:rPr>
              <a:t>Rétractation 14 jours · paiement pré-autorisé, capturé seulement si l’offre gagne.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PARCOURS COLLECTIONNEUR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Du clic à la pièce livrée.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Le collectionneur que vous touchez : KYC validé, carte vérifiée, profil horloger.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550" y="2780000"/>
            <a:ext cx="72009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Découverte</a:t>
            </a:r>
          </a:p>
        </p:txBody>
      </p:sp>
      <p:sp>
        <p:nvSpPr>
          <p:cNvPr id="8" name="Oval 7"/>
          <p:cNvSpPr/>
          <p:nvPr/>
        </p:nvSpPr>
        <p:spPr>
          <a:xfrm>
            <a:off x="9165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Newsletter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Inscription</a:t>
            </a:r>
          </a:p>
        </p:txBody>
      </p:sp>
      <p:sp>
        <p:nvSpPr>
          <p:cNvPr id="11" name="Oval 10"/>
          <p:cNvSpPr/>
          <p:nvPr/>
        </p:nvSpPr>
        <p:spPr>
          <a:xfrm>
            <a:off x="19452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59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Compte + KYC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Suivi</a:t>
            </a:r>
          </a:p>
        </p:txBody>
      </p:sp>
      <p:sp>
        <p:nvSpPr>
          <p:cNvPr id="14" name="Oval 13"/>
          <p:cNvSpPr/>
          <p:nvPr/>
        </p:nvSpPr>
        <p:spPr>
          <a:xfrm>
            <a:off x="29739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Veille du 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33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J 0</a:t>
            </a:r>
          </a:p>
        </p:txBody>
      </p:sp>
      <p:sp>
        <p:nvSpPr>
          <p:cNvPr id="17" name="Oval 16"/>
          <p:cNvSpPr/>
          <p:nvPr/>
        </p:nvSpPr>
        <p:spPr>
          <a:xfrm>
            <a:off x="40026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Première offre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5 jours</a:t>
            </a:r>
          </a:p>
        </p:txBody>
      </p:sp>
      <p:sp>
        <p:nvSpPr>
          <p:cNvPr id="20" name="Oval 19"/>
          <p:cNvSpPr/>
          <p:nvPr/>
        </p:nvSpPr>
        <p:spPr>
          <a:xfrm>
            <a:off x="50313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Modification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07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J + 5</a:t>
            </a:r>
          </a:p>
        </p:txBody>
      </p:sp>
      <p:sp>
        <p:nvSpPr>
          <p:cNvPr id="23" name="Oval 22"/>
          <p:cNvSpPr/>
          <p:nvPr/>
        </p:nvSpPr>
        <p:spPr>
          <a:xfrm>
            <a:off x="60600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07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Révélation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J + 5 → 10</a:t>
            </a:r>
          </a:p>
        </p:txBody>
      </p:sp>
      <p:sp>
        <p:nvSpPr>
          <p:cNvPr id="26" name="Oval 25"/>
          <p:cNvSpPr/>
          <p:nvPr/>
        </p:nvSpPr>
        <p:spPr>
          <a:xfrm>
            <a:off x="70887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Livraison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81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J + 14</a:t>
            </a:r>
          </a:p>
        </p:txBody>
      </p:sp>
      <p:sp>
        <p:nvSpPr>
          <p:cNvPr id="29" name="Oval 28"/>
          <p:cNvSpPr/>
          <p:nvPr/>
        </p:nvSpPr>
        <p:spPr>
          <a:xfrm>
            <a:off x="81174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581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Rétractation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30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50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853F"/>
                </a:solidFill>
                <a:latin typeface="Georgia"/>
              </a:rPr>
              <a:t>Pas de guerre d’enchères : une décision posée à froid, ajustable jusqu’à la dernière heure.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 PRODUIT  ·  EN LIGNE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93192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0A0A0A"/>
                </a:solidFill>
                <a:latin typeface="Georgia"/>
              </a:rPr>
              <a:t>La page drop.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393192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6B"/>
                </a:solidFill>
                <a:latin typeface="Calibri"/>
              </a:rPr>
              <a:t>Ce que voit le collectionneur, du premier jour à la dernière heure avant la révélation.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COMPTE À REBOURS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8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Révélation datée et publique, identique pour tous. Aucune prolongation, aucune surenchère.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OFFRE SCELLÉE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0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Chaque offre reste cachée jusqu’à la révélation, modifiable jusqu’à une heure avant la clôture.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7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VOS CONDITIONS, AFFICHÉES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Plancher, exemplaires, livraison assurée, rétractation 14 jours. Le cadre est posé.</a:t>
            </a:r>
          </a:p>
        </p:txBody>
      </p:sp>
      <p:pic>
        <p:nvPicPr>
          <p:cNvPr id="12" name="Picture 11" descr="crop-drop-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13106"/>
            <a:ext cx="3470000" cy="2546908"/>
          </a:xfrm>
          <a:prstGeom prst="rect">
            <a:avLst/>
          </a:prstGeom>
          <a:ln w="9525">
            <a:solidFill>
              <a:srgbClr val="D6D2C7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 PRODUIT  ·  APRÈS LA RÉVÉLATION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0A0A0A"/>
                </a:solidFill>
                <a:latin typeface="Georgia"/>
              </a:rPr>
              <a:t>Le résultat, public et daté.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Calibri"/>
              </a:rPr>
              <a:t>À la révélation, le prix unitaire s’affiche sur la page du drop. Chaque drop archivé devient la preuve du suivant.</a:t>
            </a:r>
          </a:p>
        </p:txBody>
      </p:sp>
      <p:pic>
        <p:nvPicPr>
          <p:cNvPr id="6" name="Picture 5" descr="crop-reveal-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97" y="2040000"/>
            <a:ext cx="6093405" cy="2520000"/>
          </a:xfrm>
          <a:prstGeom prst="rect">
            <a:avLst/>
          </a:prstGeom>
          <a:ln w="9525">
            <a:solidFill>
              <a:srgbClr val="D6D2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DROP № 001  ·  MAISON LÉVRIER  ·  EXEMPLE ILLUSTRATIF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9B9B9B"/>
                </a:solidFill>
                <a:latin typeface="Georgia"/>
              </a:rPr>
              <a:t>Vous attendiez 4 500 €.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60000"/>
            <a:ext cx="8229600" cy="2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1" spc="-200">
                <a:solidFill>
                  <a:srgbClr val="FAFAF7"/>
                </a:solidFill>
                <a:latin typeface="Georgia"/>
              </a:rPr>
              <a:t>6 240 €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2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AFAF7"/>
                </a:solidFill>
                <a:latin typeface="Calibri"/>
              </a:rPr>
              <a:t>Ce que le marché a dit, en cinq jours.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9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A96E"/>
                </a:solidFill>
                <a:latin typeface="Georgia"/>
              </a:rPr>
              <a:t>+ 1 740 € par pièce  ·  + 13 920 € sur l’édition  ·  + 38,7 %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POSITIONNEMENT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0A0A0A"/>
                </a:solidFill>
                <a:latin typeface="Georgia"/>
              </a:rPr>
              <a:t>Pour les pièces qu’on n’a pas encore vues.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6B6B"/>
                </a:solidFill>
                <a:latin typeface="Calibri"/>
              </a:rPr>
              <a:t>Les références émergentes, les éditions limitées, les premières sorties. Quand le marché ne sait pas encore quoi en penser.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A8853F"/>
                </a:solidFill>
                <a:latin typeface="Calibri"/>
              </a:rPr>
              <a:t>IDÉAL POUR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0000"/>
            <a:ext cx="379476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90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Nouvelles références indé, jamais commercialisées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4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Prototypes prêts à industrialiser, à valider en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58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Éditions anniversaire, capsules, collaborations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2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Productions sous 100 pièces, prix unitaire ≥ 3 000 €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0A0A0A"/>
                </a:solidFill>
                <a:latin typeface="Calibri"/>
              </a:rPr>
              <a:t>HORS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460000"/>
            <a:ext cx="379476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590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Catalogue récurrent à prix déjà établi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974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Pièces sous 3 000 € (économie de la livraison tendue)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358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Marché secondaire de revente (brand-direct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42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Catégories non-horlogères (bijoux et art en v2)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PROCHAINS DROPS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0" i="1">
                <a:solidFill>
                  <a:srgbClr val="FAFAF7"/>
                </a:solidFill>
                <a:latin typeface="Georgia"/>
              </a:rPr>
              <a:t>Slots ouverts Q3 et Q4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000"/>
            <a:ext cx="80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B9B9B"/>
                </a:solidFill>
                <a:latin typeface="Calibri"/>
              </a:rPr>
              <a:t>Un drop par semaine. Trente par an. Sélection sur dossier.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60000"/>
            <a:ext cx="822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9B9B9B"/>
                </a:solidFill>
                <a:latin typeface="Calibri"/>
              </a:rPr>
              <a:t>POUR DISCUTER D’UN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2000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C9A96E"/>
                </a:solidFill>
                <a:latin typeface="Georgia"/>
              </a:rPr>
              <a:t>raph@dropno.eu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AFAF7"/>
                </a:solidFill>
                <a:latin typeface="Calibri"/>
              </a:rPr>
              <a:t>Call de démo 30 minutes. Onboarding en deux semaines. Premier drop test sous 30 jours.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
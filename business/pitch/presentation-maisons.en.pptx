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BRAND PRESENTATION  ·  2026</a:t>
            </a:r>
          </a:p>
        </p:txBody>
      </p:sp>
      <p:sp>
        <p:nvSpPr>
          <p:cNvPr id="3" name="Oval 2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00000"/>
            <a:ext cx="8229600" cy="1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1" spc="-200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00000"/>
            <a:ext cx="70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AFAF7"/>
                </a:solidFill>
                <a:latin typeface="Calibri"/>
              </a:rPr>
              <a:t>A real-world value test, for the pieces the market has not seen yet.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06240"/>
            <a:ext cx="146304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6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300">
                <a:solidFill>
                  <a:srgbClr val="9B9B9B"/>
                </a:solidFill>
                <a:latin typeface="Calibri"/>
              </a:rPr>
              <a:t>Brand-direct  ·  sealed-bid  ·  one reveal, Thursday 6pm CET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REAL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200" b="0" i="1">
                <a:solidFill>
                  <a:srgbClr val="0A0A0A"/>
                </a:solidFill>
                <a:latin typeface="Georgia"/>
              </a:rPr>
              <a:t>You launch an unseen piece.</a:t>
            </a:r>
          </a:p>
          <a:p>
            <a:pPr algn="l">
              <a:lnSpc>
                <a:spcPct val="104000"/>
              </a:lnSpc>
            </a:pPr>
            <a:r>
              <a:rPr sz="3200" b="0" i="1">
                <a:solidFill>
                  <a:srgbClr val="A8853F"/>
                </a:solidFill>
                <a:latin typeface="Georgia"/>
              </a:rPr>
              <a:t>At what price do you sell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060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880360"/>
            <a:ext cx="265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0A0A0A"/>
                </a:solidFill>
                <a:latin typeface="Georgia"/>
              </a:rPr>
              <a:t>At 4,500 €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00000"/>
            <a:ext cx="265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Gone in 3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40000"/>
            <a:ext cx="26232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You leave 30 to 50 % on the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880360"/>
            <a:ext cx="265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0A0A0A"/>
                </a:solidFill>
                <a:latin typeface="Georgia"/>
              </a:rPr>
              <a:t>At 6,000 €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300000"/>
            <a:ext cx="265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Gone in 6 months.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640000"/>
            <a:ext cx="26232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Diluted cash flow, lost narrative.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880360"/>
            <a:ext cx="265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0A0A0A"/>
                </a:solidFill>
                <a:latin typeface="Georgia"/>
              </a:rPr>
              <a:t>At 7,500 €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300000"/>
            <a:ext cx="265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Nothing sells.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640000"/>
            <a:ext cx="26232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The drop exists, with no demand.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F3F39"/>
                </a:solidFill>
                <a:latin typeface="Georgia"/>
              </a:rPr>
              <a:t>No calculation gives you that number. It lives in the heads of collectors.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WHAT DROP NO. SOLVES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000" b="0" i="1">
                <a:solidFill>
                  <a:srgbClr val="0A0A0A"/>
                </a:solidFill>
                <a:latin typeface="Georgia"/>
              </a:rPr>
              <a:t>You no longer set the price.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A8853F"/>
                </a:solidFill>
                <a:latin typeface="Georgia"/>
              </a:rPr>
              <a:t>The market reveals it to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060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YOU SET A FLOOR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The minimum below which you will not sell.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THE MARKET BIDS BLIND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Sealed offers, editable, over five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THE PRICE IS REVEALED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Thursday 6pm. The Nth offer becomes the unit price.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YOU 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Clearing price, depth of demand, buyer profile.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SECTION 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50000"/>
            <a:ext cx="82296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1" spc="-100">
                <a:solidFill>
                  <a:srgbClr val="FAFAF7"/>
                </a:solidFill>
                <a:latin typeface="Georgia"/>
              </a:rPr>
              <a:t>The brand 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20000"/>
            <a:ext cx="72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B9B9B"/>
                </a:solidFill>
                <a:latin typeface="Calibri"/>
              </a:rPr>
              <a:t>What you gain, step by step — the mechanism, the controlled risk, the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PRODUCT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From first call to payment.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6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Four weeks to prepare, five days to sell, two weeks to settle.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5028" y="2780000"/>
            <a:ext cx="7053943" cy="9525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- 30</a:t>
            </a:r>
          </a:p>
        </p:txBody>
      </p:sp>
      <p:sp>
        <p:nvSpPr>
          <p:cNvPr id="8" name="Oval 7"/>
          <p:cNvSpPr/>
          <p:nvPr/>
        </p:nvSpPr>
        <p:spPr>
          <a:xfrm>
            <a:off x="979028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200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First call, exploration.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2857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- 21</a:t>
            </a:r>
          </a:p>
        </p:txBody>
      </p:sp>
      <p:sp>
        <p:nvSpPr>
          <p:cNvPr id="12" name="Oval 11"/>
          <p:cNvSpPr/>
          <p:nvPr/>
        </p:nvSpPr>
        <p:spPr>
          <a:xfrm>
            <a:off x="2154685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2857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0857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Onboarding, company KYC.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514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- 14</a:t>
            </a:r>
          </a:p>
        </p:txBody>
      </p:sp>
      <p:sp>
        <p:nvSpPr>
          <p:cNvPr id="16" name="Oval 15"/>
          <p:cNvSpPr/>
          <p:nvPr/>
        </p:nvSpPr>
        <p:spPr>
          <a:xfrm>
            <a:off x="3330342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8514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6514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Piece, floor, editions.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4171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- 7</a:t>
            </a:r>
          </a:p>
        </p:txBody>
      </p:sp>
      <p:sp>
        <p:nvSpPr>
          <p:cNvPr id="20" name="Oval 19"/>
          <p:cNvSpPr/>
          <p:nvPr/>
        </p:nvSpPr>
        <p:spPr>
          <a:xfrm>
            <a:off x="4505999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84171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Preparation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2171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Photos, story, packaging.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9828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0</a:t>
            </a:r>
          </a:p>
        </p:txBody>
      </p:sp>
      <p:sp>
        <p:nvSpPr>
          <p:cNvPr id="24" name="Oval 23"/>
          <p:cNvSpPr/>
          <p:nvPr/>
        </p:nvSpPr>
        <p:spPr>
          <a:xfrm>
            <a:off x="5681656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9828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Opening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7828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Thursday 9am, public drop.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5485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+ 5</a:t>
            </a:r>
          </a:p>
        </p:txBody>
      </p:sp>
      <p:sp>
        <p:nvSpPr>
          <p:cNvPr id="28" name="Oval 27"/>
          <p:cNvSpPr/>
          <p:nvPr/>
        </p:nvSpPr>
        <p:spPr>
          <a:xfrm>
            <a:off x="6857313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5485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Reveal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3485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Thursday 6pm, clearing price.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1142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+ 19</a:t>
            </a:r>
          </a:p>
        </p:txBody>
      </p:sp>
      <p:sp>
        <p:nvSpPr>
          <p:cNvPr id="32" name="Oval 31"/>
          <p:cNvSpPr/>
          <p:nvPr/>
        </p:nvSpPr>
        <p:spPr>
          <a:xfrm>
            <a:off x="8032970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11142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Payment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9142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After 14-day withdrawal.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3000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50000"/>
            <a:ext cx="82296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8853F"/>
                </a:solidFill>
                <a:latin typeface="Georgia"/>
              </a:rPr>
              <a:t>Concierge delivery between D + 5 and D + 10. You ship directly to the verified buyer; we provide the insured label and coordinate the handover. The piece never passes through Drop No.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TEST WITHOUT THE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Three safeguards, to test without breaking.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30000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40000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The floor price is yours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30000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Below your threshold, the drop is cancelled. No sale under the floor, no damage to your image.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26666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96666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06666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Cancelled drop, zero 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96666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No fee if nothing sells. Drop No. only wins if you win. Our interest is aligned with yours.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93332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63332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73332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You keep control of the calendar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63332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Opening date, duration, communication. One reveal per drop, never alongside your own boutique.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WHAT YOU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Three data points no study will give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30000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40000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The true market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30000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What the N most motivated collectors are ready to pay today. Not an average, not a survey. A figure.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26666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96666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06666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The depth of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96666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The number of offers, their distribution, the gap between the first and the Nth. A direct signal for your next references.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93332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63332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73332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The buyer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63332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How many collectors are KYC-verified and bid. Countries, segments, loyalty — at no acquisition cost to you.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PRIVILEGE № 001</a:t>
            </a:r>
          </a:p>
        </p:txBody>
      </p:sp>
      <p:sp>
        <p:nvSpPr>
          <p:cNvPr id="3" name="Oval 2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30000"/>
            <a:ext cx="8229600" cy="1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0" i="1" spc="-50">
                <a:solidFill>
                  <a:srgbClr val="FAFAF7"/>
                </a:solidFill>
                <a:latin typeface="Georgia"/>
              </a:rPr>
              <a:t>Number 001, reserved for the top bidder.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60000"/>
            <a:ext cx="74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B9B9B"/>
                </a:solidFill>
                <a:latin typeface="Calibri"/>
              </a:rPr>
              <a:t>After the reveal, the highest bidder receives a private offer: to reserve serial number 001 of the edition. A premium, twenty-four hours, an exclusivity that creates desire without a public bidding war.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3000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0000"/>
            <a:ext cx="264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C9A96E"/>
                </a:solidFill>
                <a:latin typeface="Georgia"/>
              </a:rPr>
              <a:t>Private offer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00000"/>
            <a:ext cx="261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B9B9B"/>
                </a:solidFill>
                <a:latin typeface="Calibri"/>
              </a:rPr>
              <a:t>Made only to the highest bidder, after clearing. Discreet, never announced beforehand.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560000"/>
            <a:ext cx="264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C9A96E"/>
                </a:solidFill>
                <a:latin typeface="Georgia"/>
              </a:rPr>
              <a:t>24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100000"/>
            <a:ext cx="261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B9B9B"/>
                </a:solidFill>
                <a:latin typeface="Calibri"/>
              </a:rPr>
              <a:t>A short window to decide. No cascade: if declined, 001 follows the ranking.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560000"/>
            <a:ext cx="264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C9A96E"/>
                </a:solidFill>
                <a:latin typeface="Georgia"/>
              </a:rPr>
              <a:t>The top pays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100000"/>
            <a:ext cx="261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B9B9B"/>
                </a:solidFill>
                <a:latin typeface="Calibri"/>
              </a:rPr>
              <a:t>A premium based on the gap to the Nth offer. One more reason to aim high.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LOGISTICS &amp; EDITIONS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0A0A0A"/>
                </a:solidFill>
                <a:latin typeface="Georgia"/>
              </a:rPr>
              <a:t>Every piece numbered, every delivery insured.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0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A8853F"/>
                </a:solidFill>
                <a:latin typeface="Calibri"/>
              </a:rPr>
              <a:t>THE PIECE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00000"/>
            <a:ext cx="379476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3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Numbering 1 /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8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Engraved on the rotor and the case back, visible through the sapphire.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House-signed certificate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Certificate of authenticity issued and signed by your workshop, delivered with the piece.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Original packaging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4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Your usual box, printed history booklet, reinforced transport 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90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0A0A0A"/>
                </a:solidFill>
                <a:latin typeface="Calibri"/>
              </a:rPr>
              <a:t>THE DELIVERY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200000"/>
            <a:ext cx="379476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33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Insured DHL 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58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For pieces between 3,000 and 10,000 €. 48-72h, full insurance, real-time tracking.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0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Hand-carried concierge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31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Above 10,000 €. Malca-Amit or Brinks, handover against signature.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79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5 to 10-day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04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From the reveal. You ship directly to the verified buyer; the piece never transits through our premises.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PRICING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 i="1">
                <a:solidFill>
                  <a:srgbClr val="0A0A0A"/>
                </a:solidFill>
                <a:latin typeface="Georgia"/>
              </a:rPr>
              <a:t>12 %  +  5 €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20000"/>
            <a:ext cx="82296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3F3F39"/>
                </a:solidFill>
                <a:latin typeface="Georgia"/>
              </a:rPr>
              <a:t>per piece sold, up to 10,000 €.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Above 10,000 €, bespoke pricing (concierge logistics included).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204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40000"/>
            <a:ext cx="822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60">
                <a:solidFill>
                  <a:srgbClr val="6B6B6B"/>
                </a:solidFill>
                <a:latin typeface="Calibri"/>
              </a:rPr>
              <a:t>INCLUDED  ·  NO ADDITIONAL FEES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10000"/>
            <a:ext cx="381744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Buyer KYC · Stripe Identity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Payment · pre-auth, capture, refunds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Premium logistics · DHL Express or Malca-Amit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9360" y="3910000"/>
            <a:ext cx="381744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Customer support · Crisp chat + email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Communication · newsletter, PR, 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SECTION II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50000"/>
            <a:ext cx="82296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1" spc="-100">
                <a:solidFill>
                  <a:srgbClr val="FAFAF7"/>
                </a:solidFill>
                <a:latin typeface="Georgia"/>
              </a:rPr>
              <a:t>The collector 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20000"/>
            <a:ext cx="72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B9B9B"/>
                </a:solidFill>
                <a:latin typeface="Calibri"/>
              </a:rPr>
              <a:t>The experience that attracts the buyer you are targeting — and keeps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COLLECTOR, BEFORE DROP NO.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000" b="0" i="1">
                <a:solidFill>
                  <a:srgbClr val="0A0A0A"/>
                </a:solidFill>
                <a:latin typeface="Georgia"/>
              </a:rPr>
              <a:t>I want a beautiful piece.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A8853F"/>
                </a:solidFill>
                <a:latin typeface="Georgia"/>
              </a:rPr>
              <a:t>Where do I even start?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20000"/>
            <a:ext cx="22000" cy="1076000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7200" y="2440000"/>
            <a:ext cx="8029600" cy="3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3F3F39"/>
                </a:solidFill>
                <a:latin typeface="Georgia"/>
              </a:rPr>
              <a:t>Who do I trust — a forum, a dealer, the grey market?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2812000"/>
            <a:ext cx="8029600" cy="3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3F3F39"/>
                </a:solidFill>
                <a:latin typeface="Georgia"/>
              </a:rPr>
              <a:t>How do I buy well, without paying for the fear of missing out?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00" y="3184000"/>
            <a:ext cx="8029600" cy="3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3F3F39"/>
                </a:solidFill>
                <a:latin typeface="Georgia"/>
              </a:rPr>
              <a:t>And once I decide: a refusal, a waitlist, an availability I do not get to choose.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7600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06000"/>
            <a:ext cx="82296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A8853F"/>
                </a:solidFill>
                <a:latin typeface="Georgia"/>
              </a:rPr>
              <a:t>Drop No. resets the rules: a price discovered together, one clear window for everyone, a real chance to land the piece.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An experience built for the collector.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6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SEALED, EDITABLE OFFER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2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A hidden offer, adjustable until one hour before the reveal. No bidding war, no FOMO.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0400" y="176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VERIFIED IDENTITY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0400" y="201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0400" y="212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Stripe Identity from the first offer. Real buyers, a verified card, zero fraud.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3600" y="176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PUBLIC COUNTDOWN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3600" y="201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3600" y="212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A dated reveal, Thursday 6pm. The same horizon for everyone, shown on the drop page.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7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ALERTS &amp; REMINDERS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2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3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Alert bell and emails: opening, 24h before, last hour. Nobody misses the window.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0400" y="307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ACCOUNT &amp;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20400" y="332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0400" y="343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A dashboard: active offers, status, payment, delivery — all in one place.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3600" y="307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PRIVILEGE № 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3600" y="332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3600" y="343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The highest bidder can reserve number 001 of the edition. A reason to aim high.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0000"/>
            <a:ext cx="82296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F3F39"/>
                </a:solidFill>
                <a:latin typeface="Georgia"/>
              </a:rPr>
              <a:t>14-day withdrawal · payment pre-authorized, captured only if the offer wins.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COLLECTOR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From click to delivered piece.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6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The collector you reach: KYC-verified, card-verified, watch-collector profile.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550" y="2780000"/>
            <a:ext cx="72009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Discovery</a:t>
            </a:r>
          </a:p>
        </p:txBody>
      </p:sp>
      <p:sp>
        <p:nvSpPr>
          <p:cNvPr id="8" name="Oval 7"/>
          <p:cNvSpPr/>
          <p:nvPr/>
        </p:nvSpPr>
        <p:spPr>
          <a:xfrm>
            <a:off x="9165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Newsletter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Sign-up</a:t>
            </a:r>
          </a:p>
        </p:txBody>
      </p:sp>
      <p:sp>
        <p:nvSpPr>
          <p:cNvPr id="11" name="Oval 10"/>
          <p:cNvSpPr/>
          <p:nvPr/>
        </p:nvSpPr>
        <p:spPr>
          <a:xfrm>
            <a:off x="19452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59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Account + KYC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Follow</a:t>
            </a:r>
          </a:p>
        </p:txBody>
      </p:sp>
      <p:sp>
        <p:nvSpPr>
          <p:cNvPr id="14" name="Oval 13"/>
          <p:cNvSpPr/>
          <p:nvPr/>
        </p:nvSpPr>
        <p:spPr>
          <a:xfrm>
            <a:off x="29739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Drop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33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D 0</a:t>
            </a:r>
          </a:p>
        </p:txBody>
      </p:sp>
      <p:sp>
        <p:nvSpPr>
          <p:cNvPr id="17" name="Oval 16"/>
          <p:cNvSpPr/>
          <p:nvPr/>
        </p:nvSpPr>
        <p:spPr>
          <a:xfrm>
            <a:off x="40026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First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5 days</a:t>
            </a:r>
          </a:p>
        </p:txBody>
      </p:sp>
      <p:sp>
        <p:nvSpPr>
          <p:cNvPr id="20" name="Oval 19"/>
          <p:cNvSpPr/>
          <p:nvPr/>
        </p:nvSpPr>
        <p:spPr>
          <a:xfrm>
            <a:off x="50313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Editing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07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D + 5</a:t>
            </a:r>
          </a:p>
        </p:txBody>
      </p:sp>
      <p:sp>
        <p:nvSpPr>
          <p:cNvPr id="23" name="Oval 22"/>
          <p:cNvSpPr/>
          <p:nvPr/>
        </p:nvSpPr>
        <p:spPr>
          <a:xfrm>
            <a:off x="60600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007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Reveal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D + 5 → 10</a:t>
            </a:r>
          </a:p>
        </p:txBody>
      </p:sp>
      <p:sp>
        <p:nvSpPr>
          <p:cNvPr id="26" name="Oval 25"/>
          <p:cNvSpPr/>
          <p:nvPr/>
        </p:nvSpPr>
        <p:spPr>
          <a:xfrm>
            <a:off x="70887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81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D + 14</a:t>
            </a:r>
          </a:p>
        </p:txBody>
      </p:sp>
      <p:sp>
        <p:nvSpPr>
          <p:cNvPr id="29" name="Oval 28"/>
          <p:cNvSpPr/>
          <p:nvPr/>
        </p:nvSpPr>
        <p:spPr>
          <a:xfrm>
            <a:off x="81174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581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Withdrawal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3000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50000"/>
            <a:ext cx="82296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8853F"/>
                </a:solidFill>
                <a:latin typeface="Georgia"/>
              </a:rPr>
              <a:t>No bidding war: a decision made calmly, adjustable until the very last hour.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PRODUCT  ·  ONLINE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93192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0A0A0A"/>
                </a:solidFill>
                <a:latin typeface="Georgia"/>
              </a:rPr>
              <a:t>The drop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60000"/>
            <a:ext cx="393192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6B"/>
                </a:solidFill>
                <a:latin typeface="Calibri"/>
              </a:rPr>
              <a:t>What the collector sees, from day one to the last hour before the reveal.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0000"/>
            <a:ext cx="393192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A8853F"/>
                </a:solidFill>
                <a:latin typeface="Calibri"/>
              </a:rPr>
              <a:t>COUNTDOWN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80000"/>
            <a:ext cx="393192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A dated, public reveal, the same for everyone. No extension, no overbidding.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0000"/>
            <a:ext cx="393192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A8853F"/>
                </a:solidFill>
                <a:latin typeface="Calibri"/>
              </a:rPr>
              <a:t>SEALED OFFER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00000"/>
            <a:ext cx="393192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Each offer stays hidden until the reveal, editable until one hour before closing.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70000"/>
            <a:ext cx="393192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A8853F"/>
                </a:solidFill>
                <a:latin typeface="Calibri"/>
              </a:rPr>
              <a:t>YOUR TERMS, SHOWN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0000"/>
            <a:ext cx="393192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Floor, editions, insured delivery, 14-day withdrawal. The frame is set.</a:t>
            </a:r>
          </a:p>
        </p:txBody>
      </p:sp>
      <p:pic>
        <p:nvPicPr>
          <p:cNvPr id="12" name="Picture 11" descr="crop-drop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13106"/>
            <a:ext cx="3470000" cy="2546908"/>
          </a:xfrm>
          <a:prstGeom prst="rect">
            <a:avLst/>
          </a:prstGeom>
          <a:ln w="9525">
            <a:solidFill>
              <a:srgbClr val="D6D2C7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PRODUCT  ·  AFTER THE REVEAL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0A0A0A"/>
                </a:solidFill>
                <a:latin typeface="Georgia"/>
              </a:rPr>
              <a:t>The result, public and dated.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Calibri"/>
              </a:rPr>
              <a:t>At the reveal, the unit price appears on the drop page. Each archived drop becomes proof for the next.</a:t>
            </a:r>
          </a:p>
        </p:txBody>
      </p:sp>
      <p:pic>
        <p:nvPicPr>
          <p:cNvPr id="6" name="Picture 5" descr="crop-reveal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297" y="2040000"/>
            <a:ext cx="6093405" cy="2520000"/>
          </a:xfrm>
          <a:prstGeom prst="rect">
            <a:avLst/>
          </a:prstGeom>
          <a:ln w="9525">
            <a:solidFill>
              <a:srgbClr val="D6D2C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DROP № 001  ·  MAISON LÉVRIER  ·  ILLUSTRATIVE EXAMPLE</a:t>
            </a:r>
          </a:p>
        </p:txBody>
      </p:sp>
      <p:sp>
        <p:nvSpPr>
          <p:cNvPr id="3" name="Oval 2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9B9B9B"/>
                </a:solidFill>
                <a:latin typeface="Georgia"/>
              </a:rPr>
              <a:t>You expected 4,500 €.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60000"/>
            <a:ext cx="8229600" cy="2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1" spc="-200">
                <a:solidFill>
                  <a:srgbClr val="FAFAF7"/>
                </a:solidFill>
                <a:latin typeface="Georgia"/>
              </a:rPr>
              <a:t>6,240 €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2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AFAF7"/>
                </a:solidFill>
                <a:latin typeface="Calibri"/>
              </a:rPr>
              <a:t>What the market said, in five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6052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9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A96E"/>
                </a:solidFill>
                <a:latin typeface="Georgia"/>
              </a:rPr>
              <a:t>+ 1,740 € per piece  ·  + 13,920 € on the edition  ·  + 38.7 %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0A0A0A"/>
                </a:solidFill>
                <a:latin typeface="Georgia"/>
              </a:rPr>
              <a:t>For the pieces the market has not seen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6B6B"/>
                </a:solidFill>
                <a:latin typeface="Calibri"/>
              </a:rPr>
              <a:t>Emerging references, limited editions, first releases. When the market does not yet know what to make of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A8853F"/>
                </a:solidFill>
                <a:latin typeface="Calibri"/>
              </a:rPr>
              <a:t>IDEAL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0000"/>
            <a:ext cx="379476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90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New independent references, never sold 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4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Prototypes ready to industrialize, to validate in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58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Anniversary editions, capsules, collaborations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2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Productions under 100 pieces, unit price ≥ 3,000 €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1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0A0A0A"/>
                </a:solidFill>
                <a:latin typeface="Calibri"/>
              </a:rPr>
              <a:t>OUT OF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460000"/>
            <a:ext cx="379476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590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Recurring catalogue at an already-set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974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Pieces under 3,000 € (delivery economics too tight)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358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Secondary resale market (brand-direct 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742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Non-watch categories (jewellery and art in v2)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NEXT DROPS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0"/>
            <a:ext cx="82296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0" i="1">
                <a:solidFill>
                  <a:srgbClr val="FAFAF7"/>
                </a:solidFill>
                <a:latin typeface="Georgia"/>
              </a:rPr>
              <a:t>Slots open for Q3 and Q4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000"/>
            <a:ext cx="80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B9B9B"/>
                </a:solidFill>
                <a:latin typeface="Calibri"/>
              </a:rPr>
              <a:t>One drop a week. Thirty a year. Selected on application.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60000"/>
            <a:ext cx="822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9B9B9B"/>
                </a:solidFill>
                <a:latin typeface="Calibri"/>
              </a:rPr>
              <a:t>TO DISCUSS A DROP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20000"/>
            <a:ext cx="82296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C9A96E"/>
                </a:solidFill>
                <a:latin typeface="Georgia"/>
              </a:rPr>
              <a:t>raph@dropno.eu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AFAF7"/>
                </a:solidFill>
                <a:latin typeface="Calibri"/>
              </a:rPr>
              <a:t>30-minute demo call. Onboarding in two weeks. First test drop within 30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